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4E7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" y="3200400"/>
            <a:ext cx="3474720" cy="0"/>
          </a:xfrm>
          <a:prstGeom prst="line">
            <a:avLst/>
          </a:prstGeom>
          <a:noFill/>
          <a:ln w="38100">
            <a:solidFill>
              <a:srgbClr val="C8A04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22960" y="2103120"/>
            <a:ext cx="10515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資金管理システム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822960" y="3337560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D6E4F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現状のご報告と、統合のご提案</a:t>
            </a:r>
            <a:endParaRPr lang="en-US" sz="2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70707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本日のご報告</a:t>
            </a:r>
            <a:endParaRPr lang="en-US" sz="1600" dirty="0"/>
          </a:p>
        </p:txBody>
      </p:sp>
      <p:sp>
        <p:nvSpPr>
          <p:cNvPr id="3" name="Shape 1"/>
          <p:cNvSpPr/>
          <p:nvPr/>
        </p:nvSpPr>
        <p:spPr>
          <a:xfrm>
            <a:off x="640080" y="886968"/>
            <a:ext cx="1280160" cy="0"/>
          </a:xfrm>
          <a:prstGeom prst="line">
            <a:avLst/>
          </a:prstGeom>
          <a:noFill/>
          <a:ln w="38100">
            <a:solidFill>
              <a:srgbClr val="C8A04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1051560"/>
            <a:ext cx="10972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4E79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お伝えしたいのは、この2点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640080" y="2286000"/>
            <a:ext cx="10881360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25400">
            <a:solidFill>
              <a:srgbClr val="1F4E7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41248" y="2432304"/>
            <a:ext cx="1047902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F4E79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① どこまで出来たか（実績のご報告）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841248" y="3017520"/>
            <a:ext cx="10479024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2D343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ご依頼いただいた機能は、ほぼ提案書どおり実装できています。実際の画面でご覧いただきます。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640080" y="4114800"/>
            <a:ext cx="10881360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25400">
            <a:solidFill>
              <a:srgbClr val="C8A04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41248" y="4261104"/>
            <a:ext cx="1047902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B8860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② 今後どう統合していくか（ご提案）</a:t>
            </a:r>
            <a:endParaRPr lang="en-US" sz="2100" dirty="0"/>
          </a:p>
        </p:txBody>
      </p:sp>
      <p:sp>
        <p:nvSpPr>
          <p:cNvPr id="10" name="Text 8"/>
          <p:cNvSpPr/>
          <p:nvPr/>
        </p:nvSpPr>
        <p:spPr>
          <a:xfrm>
            <a:off x="841248" y="4846320"/>
            <a:ext cx="10479024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2D343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今ある複数の台帳（資金管理・経理・白井さん）を、無理なく一つに繋ぐご提案です。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133856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0707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70707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第1部 ｜ どこまで出来たか</a:t>
            </a:r>
            <a:endParaRPr lang="en-US" sz="1600" dirty="0"/>
          </a:p>
        </p:txBody>
      </p:sp>
      <p:sp>
        <p:nvSpPr>
          <p:cNvPr id="3" name="Shape 1"/>
          <p:cNvSpPr/>
          <p:nvPr/>
        </p:nvSpPr>
        <p:spPr>
          <a:xfrm>
            <a:off x="640080" y="886968"/>
            <a:ext cx="1280160" cy="0"/>
          </a:xfrm>
          <a:prstGeom prst="line">
            <a:avLst/>
          </a:prstGeom>
          <a:noFill/>
          <a:ln w="38100">
            <a:solidFill>
              <a:srgbClr val="C8A04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1051560"/>
            <a:ext cx="10972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4E79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提案書の機能は、ここまで実装できた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822960" y="2011680"/>
            <a:ext cx="105156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800" b="1" dirty="0">
                <a:solidFill>
                  <a:srgbClr val="2D343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6社の資金を1つに統合し、見える化</a:t>
            </a:r>
            <a:endParaRPr lang="en-US" sz="18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800" b="1" dirty="0">
                <a:solidFill>
                  <a:srgbClr val="2D343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予約サイト別の入金サイクル予測（当月／翌月／翌々月）</a:t>
            </a:r>
            <a:endParaRPr lang="en-US" sz="18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800" b="1" dirty="0">
                <a:solidFill>
                  <a:srgbClr val="2D343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日次・月次のキャッシュフロー自動集計</a:t>
            </a:r>
            <a:endParaRPr lang="en-US" sz="18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800" b="1" dirty="0">
                <a:solidFill>
                  <a:srgbClr val="2D343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支払可能性分析（優先度づけ・充足／不足の判定）</a:t>
            </a:r>
            <a:endParaRPr lang="en-US" sz="18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800" b="1" dirty="0">
                <a:solidFill>
                  <a:srgbClr val="2D343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カード枠のやりくり計算</a:t>
            </a:r>
            <a:endParaRPr lang="en-US" sz="18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800" b="1" dirty="0">
                <a:solidFill>
                  <a:srgbClr val="2D343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通帳・請求書の取り込み（経理機能）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822960" y="585216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E8449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✓ ＝ 実装済み・実際に動いています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66928" y="2075688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8449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✓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566928" y="2587752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8449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✓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566928" y="3099816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8449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✓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566928" y="361188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8449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✓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566928" y="4123944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8449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✓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566928" y="4636008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8449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✓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1133856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0707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70707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第1部 ｜ 実際の画面①</a:t>
            </a:r>
            <a:endParaRPr lang="en-US" sz="1600" dirty="0"/>
          </a:p>
        </p:txBody>
      </p:sp>
      <p:sp>
        <p:nvSpPr>
          <p:cNvPr id="3" name="Shape 1"/>
          <p:cNvSpPr/>
          <p:nvPr/>
        </p:nvSpPr>
        <p:spPr>
          <a:xfrm>
            <a:off x="640080" y="886968"/>
            <a:ext cx="1280160" cy="0"/>
          </a:xfrm>
          <a:prstGeom prst="line">
            <a:avLst/>
          </a:prstGeom>
          <a:noFill/>
          <a:ln w="38100">
            <a:solidFill>
              <a:srgbClr val="C8A04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1051560"/>
            <a:ext cx="10972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4E79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資金の流れを、1つの画面で見える化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822960" y="1965960"/>
            <a:ext cx="10515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70707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▼ 会社別ダッシュボード（リゾートの例）</a:t>
            </a:r>
            <a:endParaRPr lang="en-US" sz="1200" dirty="0"/>
          </a:p>
        </p:txBody>
      </p:sp>
      <p:pic>
        <p:nvPicPr>
          <p:cNvPr id="6" name="Image 0" descr="C:/tmp/loc_dash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76557" y="2286000"/>
            <a:ext cx="9608406" cy="365760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1276557" y="2286000"/>
            <a:ext cx="9608406" cy="3657600"/>
          </a:xfrm>
          <a:prstGeom prst="rect">
            <a:avLst/>
          </a:prstGeom>
          <a:ln w="12700">
            <a:solidFill>
              <a:srgbClr val="A6B0BA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1133856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0707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70707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第1部 ｜ 実際の画面②</a:t>
            </a:r>
            <a:endParaRPr lang="en-US" sz="1600" dirty="0"/>
          </a:p>
        </p:txBody>
      </p:sp>
      <p:sp>
        <p:nvSpPr>
          <p:cNvPr id="3" name="Shape 1"/>
          <p:cNvSpPr/>
          <p:nvPr/>
        </p:nvSpPr>
        <p:spPr>
          <a:xfrm>
            <a:off x="640080" y="886968"/>
            <a:ext cx="1280160" cy="0"/>
          </a:xfrm>
          <a:prstGeom prst="line">
            <a:avLst/>
          </a:prstGeom>
          <a:noFill/>
          <a:ln w="38100">
            <a:solidFill>
              <a:srgbClr val="C8A04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1051560"/>
            <a:ext cx="10972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4E79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「いつ・いくら足りないか」も判定できる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640080" y="196596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70707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▼ 支払可能性分析（月別に資金の充足／不足を自動判定）</a:t>
            </a:r>
            <a:endParaRPr lang="en-US" sz="1200" dirty="0"/>
          </a:p>
        </p:txBody>
      </p:sp>
      <p:pic>
        <p:nvPicPr>
          <p:cNvPr id="6" name="Image 0" descr="C:/tmp/loc_affor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2531242"/>
            <a:ext cx="5394960" cy="3258556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640080" y="2531242"/>
            <a:ext cx="5394960" cy="3258556"/>
          </a:xfrm>
          <a:prstGeom prst="rect">
            <a:avLst/>
          </a:prstGeom>
          <a:ln w="12700">
            <a:solidFill>
              <a:srgbClr val="A6B0BA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6309360" y="2651760"/>
            <a:ext cx="530352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2200"/>
              </a:spcAft>
              <a:buSzPct val="100000"/>
              <a:buChar char="•"/>
            </a:pPr>
            <a:r>
              <a:rPr lang="en-US" sz="1800" b="1" dirty="0">
                <a:solidFill>
                  <a:srgbClr val="2D343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月ごとに資金の充足／不足を自動判定</a:t>
            </a:r>
            <a:endParaRPr lang="en-US" sz="1800" dirty="0"/>
          </a:p>
          <a:p>
            <a:pPr marL="342900" indent="-342900">
              <a:spcAft>
                <a:spcPts val="2200"/>
              </a:spcAft>
              <a:buSzPct val="100000"/>
              <a:buChar char="•"/>
            </a:pPr>
            <a:r>
              <a:rPr lang="en-US" sz="1800" b="1" dirty="0">
                <a:solidFill>
                  <a:srgbClr val="2D343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支払いを優先度順に整理</a:t>
            </a:r>
            <a:endParaRPr lang="en-US" sz="1800" dirty="0"/>
          </a:p>
          <a:p>
            <a:pPr marL="342900" indent="-342900">
              <a:spcAft>
                <a:spcPts val="2200"/>
              </a:spcAft>
              <a:buSzPct val="100000"/>
              <a:buChar char="•"/>
            </a:pPr>
            <a:r>
              <a:rPr lang="en-US" sz="1800" b="1" dirty="0">
                <a:solidFill>
                  <a:srgbClr val="2D343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足りない月が、事前に分かる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1133856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0707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70707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第2部 ｜ いまの課題</a:t>
            </a:r>
            <a:endParaRPr lang="en-US" sz="1600" dirty="0"/>
          </a:p>
        </p:txBody>
      </p:sp>
      <p:sp>
        <p:nvSpPr>
          <p:cNvPr id="3" name="Shape 1"/>
          <p:cNvSpPr/>
          <p:nvPr/>
        </p:nvSpPr>
        <p:spPr>
          <a:xfrm>
            <a:off x="640080" y="886968"/>
            <a:ext cx="1280160" cy="0"/>
          </a:xfrm>
          <a:prstGeom prst="line">
            <a:avLst/>
          </a:prstGeom>
          <a:noFill/>
          <a:ln w="38100">
            <a:solidFill>
              <a:srgbClr val="C8A04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1051560"/>
            <a:ext cx="10972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4E79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お金のデータが、社内でバラバラになっている</a:t>
            </a:r>
            <a:endParaRPr lang="en-US" sz="28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2103120"/>
          <a:ext cx="10881360" cy="914400"/>
        </p:xfrm>
        <a:graphic>
          <a:graphicData uri="http://schemas.openxmlformats.org/drawingml/2006/table">
            <a:tbl>
              <a:tblPr/>
              <a:tblGrid>
                <a:gridCol w="3291840"/>
                <a:gridCol w="4572000"/>
                <a:gridCol w="301752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持ち主／場所</a:t>
                      </a:r>
                      <a:endParaRPr lang="en-US" sz="15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中身</a:t>
                      </a:r>
                      <a:endParaRPr lang="en-US" sz="15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本来の役割</a:t>
                      </a:r>
                      <a:endParaRPr lang="en-US" sz="15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1F4E79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ねっぱん！</a:t>
                      </a:r>
                      <a:endParaRPr lang="en-US" sz="15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2D3436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予約・オンハンド</a:t>
                      </a:r>
                      <a:endParaRPr lang="en-US" sz="15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2D3436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売上の源泉</a:t>
                      </a:r>
                      <a:endParaRPr lang="en-US" sz="15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1F4E79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白井さん Excel</a:t>
                      </a:r>
                      <a:endParaRPr lang="en-US" sz="15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2D3436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売上・経費の実績（手集計）</a:t>
                      </a:r>
                      <a:endParaRPr lang="en-US" sz="15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2D3436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売上の実績</a:t>
                      </a:r>
                      <a:endParaRPr lang="en-US" sz="15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1F4E79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経理システム</a:t>
                      </a:r>
                      <a:endParaRPr lang="en-US" sz="15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2D3436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通帳・請求書</a:t>
                      </a:r>
                      <a:endParaRPr lang="en-US" sz="15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2D3436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入出金の源泉</a:t>
                      </a:r>
                      <a:endParaRPr lang="en-US" sz="15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1F4E79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資金管理システム</a:t>
                      </a:r>
                      <a:endParaRPr lang="en-US" sz="15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2D3436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見せる・予測する</a:t>
                      </a:r>
                      <a:endParaRPr lang="en-US" sz="15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2D3436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束ねる層</a:t>
                      </a:r>
                      <a:endParaRPr lang="en-US" sz="15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640080" y="5120640"/>
            <a:ext cx="10881360" cy="1005840"/>
          </a:xfrm>
          <a:prstGeom prst="roundRect">
            <a:avLst>
              <a:gd name="adj" fmla="val 7273"/>
            </a:avLst>
          </a:prstGeom>
          <a:solidFill>
            <a:srgbClr val="FBE9E7"/>
          </a:solidFill>
          <a:ln w="25400">
            <a:solidFill>
              <a:srgbClr val="C0392B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868680" y="5120640"/>
            <a:ext cx="104241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600" b="1" dirty="0">
                <a:solidFill>
                  <a:srgbClr val="C0392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同じ「売上」「お金」を、別々の人が別々の場所に手入力 → 二重・三重入力／数字が食い違う／どれが最新か分からない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1133856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0707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70707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第2部 ｜ まず押さえたいこと</a:t>
            </a:r>
            <a:endParaRPr lang="en-US" sz="1600" dirty="0"/>
          </a:p>
        </p:txBody>
      </p:sp>
      <p:sp>
        <p:nvSpPr>
          <p:cNvPr id="3" name="Shape 1"/>
          <p:cNvSpPr/>
          <p:nvPr/>
        </p:nvSpPr>
        <p:spPr>
          <a:xfrm>
            <a:off x="640080" y="886968"/>
            <a:ext cx="1280160" cy="0"/>
          </a:xfrm>
          <a:prstGeom prst="line">
            <a:avLst/>
          </a:prstGeom>
          <a:noFill/>
          <a:ln w="38100">
            <a:solidFill>
              <a:srgbClr val="C8A04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1051560"/>
            <a:ext cx="10972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4E79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白井さんの売上データは、実は“いちばんの宝”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822960" y="2057400"/>
            <a:ext cx="1088136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600"/>
              </a:spcAft>
              <a:buSzPct val="100000"/>
              <a:buChar char="•"/>
            </a:pPr>
            <a:r>
              <a:rPr lang="en-US" sz="1800" b="1" dirty="0">
                <a:solidFill>
                  <a:srgbClr val="2D343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白井さんは、施設別・月別に「売上・経費・稼働率」まで細かく集計している</a:t>
            </a:r>
            <a:endParaRPr lang="en-US" sz="1800" dirty="0"/>
          </a:p>
          <a:p>
            <a:pPr marL="342900" indent="-342900">
              <a:spcAft>
                <a:spcPts val="1600"/>
              </a:spcAft>
              <a:buSzPct val="100000"/>
              <a:buChar char="•"/>
            </a:pPr>
            <a:r>
              <a:rPr lang="en-US" sz="1800" b="1" dirty="0">
                <a:solidFill>
                  <a:srgbClr val="1F4E79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これは、資金管理システムの弱点（売上の実績データ不足）を埋める“まさに必要なデータ”</a:t>
            </a:r>
            <a:endParaRPr lang="en-US" sz="1800" dirty="0"/>
          </a:p>
          <a:p>
            <a:pPr marL="342900" indent="-342900">
              <a:spcAft>
                <a:spcPts val="1600"/>
              </a:spcAft>
              <a:buSzPct val="100000"/>
              <a:buChar char="•"/>
            </a:pPr>
            <a:r>
              <a:rPr lang="en-US" sz="1800" b="1" dirty="0">
                <a:solidFill>
                  <a:srgbClr val="2D343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予測の精度を上げる“燃料”は、ここにある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640080" y="4709160"/>
            <a:ext cx="10881360" cy="1371600"/>
          </a:xfrm>
          <a:prstGeom prst="roundRect">
            <a:avLst>
              <a:gd name="adj" fmla="val 5333"/>
            </a:avLst>
          </a:prstGeom>
          <a:solidFill>
            <a:srgbClr val="E8F5E9"/>
          </a:solidFill>
          <a:ln w="25400">
            <a:solidFill>
              <a:srgbClr val="1E844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68680" y="4846320"/>
            <a:ext cx="10424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8449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だから方向性は「なくす」ではなく「活かす・繋ぐ」。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868680" y="5349240"/>
            <a:ext cx="10424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D343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白井さんの詳細データを“正本”として活かし、結果として手集計の負担もラクにする。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133856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0707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70707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第2部 ｜ あるべき姿</a:t>
            </a:r>
            <a:endParaRPr lang="en-US" sz="1600" dirty="0"/>
          </a:p>
        </p:txBody>
      </p:sp>
      <p:sp>
        <p:nvSpPr>
          <p:cNvPr id="3" name="Shape 1"/>
          <p:cNvSpPr/>
          <p:nvPr/>
        </p:nvSpPr>
        <p:spPr>
          <a:xfrm>
            <a:off x="640080" y="886968"/>
            <a:ext cx="1280160" cy="0"/>
          </a:xfrm>
          <a:prstGeom prst="line">
            <a:avLst/>
          </a:prstGeom>
          <a:noFill/>
          <a:ln w="38100">
            <a:solidFill>
              <a:srgbClr val="C8A04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1051560"/>
            <a:ext cx="10972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4E79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バラバラの台帳を、一つに束ねる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640080" y="2286000"/>
            <a:ext cx="2926080" cy="868680"/>
          </a:xfrm>
          <a:prstGeom prst="roundRect">
            <a:avLst>
              <a:gd name="adj" fmla="val 6316"/>
            </a:avLst>
          </a:prstGeom>
          <a:solidFill>
            <a:srgbClr val="EAF1FA"/>
          </a:solidFill>
          <a:ln w="25400">
            <a:solidFill>
              <a:srgbClr val="2E75B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2404872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E75B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ねっぱん！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822960" y="2770632"/>
            <a:ext cx="256032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D343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予約・オンハンド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40080" y="3291840"/>
            <a:ext cx="2926080" cy="868680"/>
          </a:xfrm>
          <a:prstGeom prst="roundRect">
            <a:avLst>
              <a:gd name="adj" fmla="val 6316"/>
            </a:avLst>
          </a:prstGeom>
          <a:solidFill>
            <a:srgbClr val="EAF1FA"/>
          </a:solidFill>
          <a:ln w="25400">
            <a:solidFill>
              <a:srgbClr val="2E75B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3410712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E75B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通帳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822960" y="3776472"/>
            <a:ext cx="256032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D343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入出金の実績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0080" y="4297680"/>
            <a:ext cx="2926080" cy="868680"/>
          </a:xfrm>
          <a:prstGeom prst="roundRect">
            <a:avLst>
              <a:gd name="adj" fmla="val 6316"/>
            </a:avLst>
          </a:prstGeom>
          <a:solidFill>
            <a:srgbClr val="EAF1FA"/>
          </a:solidFill>
          <a:ln w="25400">
            <a:solidFill>
              <a:srgbClr val="2E75B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22960" y="4416552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E75B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請求書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822960" y="4782312"/>
            <a:ext cx="256032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D343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支払いの予定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703320" y="35661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C8A04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▶</a:t>
            </a:r>
            <a:endParaRPr lang="en-US" sz="2000" dirty="0"/>
          </a:p>
        </p:txBody>
      </p:sp>
      <p:sp>
        <p:nvSpPr>
          <p:cNvPr id="15" name="Shape 13"/>
          <p:cNvSpPr/>
          <p:nvPr/>
        </p:nvSpPr>
        <p:spPr>
          <a:xfrm>
            <a:off x="4297680" y="2606040"/>
            <a:ext cx="3657600" cy="2194560"/>
          </a:xfrm>
          <a:prstGeom prst="roundRect">
            <a:avLst>
              <a:gd name="adj" fmla="val 4167"/>
            </a:avLst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297680" y="2880360"/>
            <a:ext cx="3657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資金管理システム</a:t>
            </a:r>
            <a:endParaRPr lang="en-US" sz="1900" dirty="0"/>
          </a:p>
        </p:txBody>
      </p:sp>
      <p:sp>
        <p:nvSpPr>
          <p:cNvPr id="17" name="Text 15"/>
          <p:cNvSpPr/>
          <p:nvPr/>
        </p:nvSpPr>
        <p:spPr>
          <a:xfrm>
            <a:off x="4297680" y="3429000"/>
            <a:ext cx="3657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D6E4F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（単一データソース）</a:t>
            </a:r>
            <a:endParaRPr lang="en-US" sz="14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D6E4F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束ねる・見せる・予測する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8183880" y="35661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C8A04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▶</a:t>
            </a:r>
            <a:endParaRPr lang="en-US" sz="2000" dirty="0"/>
          </a:p>
        </p:txBody>
      </p:sp>
      <p:sp>
        <p:nvSpPr>
          <p:cNvPr id="19" name="Shape 17"/>
          <p:cNvSpPr/>
          <p:nvPr/>
        </p:nvSpPr>
        <p:spPr>
          <a:xfrm>
            <a:off x="8732520" y="2788920"/>
            <a:ext cx="2788920" cy="1828800"/>
          </a:xfrm>
          <a:prstGeom prst="roundRect">
            <a:avLst>
              <a:gd name="adj" fmla="val 4000"/>
            </a:avLst>
          </a:prstGeom>
          <a:solidFill>
            <a:srgbClr val="E8F5E9"/>
          </a:solidFill>
          <a:ln w="25400">
            <a:solidFill>
              <a:srgbClr val="1E8449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933688" y="2935224"/>
            <a:ext cx="238658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8449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経営判断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8933688" y="3520440"/>
            <a:ext cx="2386584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2D343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いつ・いくら足りるかを見て、社長は確認と判断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640080" y="5212080"/>
            <a:ext cx="10881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70707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※ 白井さんの詳細データを「正本」として活かす。繋ぐことで手集計の負担も軽くなる。ねっぱん！連携は次の段階。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1133856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0707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70707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第2部 ｜ 統合の最大メリット</a:t>
            </a:r>
            <a:endParaRPr lang="en-US" sz="1600" dirty="0"/>
          </a:p>
        </p:txBody>
      </p:sp>
      <p:sp>
        <p:nvSpPr>
          <p:cNvPr id="3" name="Shape 1"/>
          <p:cNvSpPr/>
          <p:nvPr/>
        </p:nvSpPr>
        <p:spPr>
          <a:xfrm>
            <a:off x="640080" y="886968"/>
            <a:ext cx="1280160" cy="0"/>
          </a:xfrm>
          <a:prstGeom prst="line">
            <a:avLst/>
          </a:prstGeom>
          <a:noFill/>
          <a:ln w="38100">
            <a:solidFill>
              <a:srgbClr val="C8A04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1051560"/>
            <a:ext cx="10972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F4E79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予測が「当て推量」から「予約の実数」に変わる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640080" y="2240280"/>
            <a:ext cx="5349240" cy="3108960"/>
          </a:xfrm>
          <a:prstGeom prst="roundRect">
            <a:avLst>
              <a:gd name="adj" fmla="val 2353"/>
            </a:avLst>
          </a:prstGeom>
          <a:solidFill>
            <a:srgbClr val="F2F4F7"/>
          </a:solidFill>
          <a:ln w="25400">
            <a:solidFill>
              <a:srgbClr val="C0392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41248" y="2386584"/>
            <a:ext cx="494690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C0392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今（弱い）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841248" y="2971800"/>
            <a:ext cx="4946904" cy="2240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2D343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・「去年いくらだったから今年も…」</a:t>
            </a:r>
            <a:endParaRPr lang="en-US" sz="15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2D343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　という前年ベースの当て推量</a:t>
            </a:r>
            <a:endParaRPr lang="en-US" sz="1500" dirty="0"/>
          </a:p>
          <a:p>
            <a:pPr indent="0" marL="0">
              <a:lnSpc>
                <a:spcPct val="125000"/>
              </a:lnSpc>
              <a:buNone/>
            </a:pPr>
            <a:endParaRPr lang="en-US" sz="15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2D343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・売上の見込みも手入力</a:t>
            </a:r>
            <a:endParaRPr lang="en-US" sz="1500" dirty="0"/>
          </a:p>
          <a:p>
            <a:pPr indent="0" marL="0">
              <a:lnSpc>
                <a:spcPct val="125000"/>
              </a:lnSpc>
              <a:buNone/>
            </a:pPr>
            <a:endParaRPr lang="en-US" sz="15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2D343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→ 当たらない／信用しにくい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6126480" y="2240280"/>
            <a:ext cx="5394960" cy="3108960"/>
          </a:xfrm>
          <a:prstGeom prst="roundRect">
            <a:avLst>
              <a:gd name="adj" fmla="val 2353"/>
            </a:avLst>
          </a:prstGeom>
          <a:solidFill>
            <a:srgbClr val="F2F4F7"/>
          </a:solidFill>
          <a:ln w="25400">
            <a:solidFill>
              <a:srgbClr val="1E844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327648" y="2386584"/>
            <a:ext cx="499262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E8449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これから（統合後）</a:t>
            </a:r>
            <a:endParaRPr lang="en-US" sz="1900" dirty="0"/>
          </a:p>
        </p:txBody>
      </p:sp>
      <p:sp>
        <p:nvSpPr>
          <p:cNvPr id="10" name="Text 8"/>
          <p:cNvSpPr/>
          <p:nvPr/>
        </p:nvSpPr>
        <p:spPr>
          <a:xfrm>
            <a:off x="6327648" y="2971800"/>
            <a:ext cx="4992624" cy="2240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2D343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・ねっぱん！の「今年の予約実数</a:t>
            </a:r>
            <a:endParaRPr lang="en-US" sz="15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2D343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　（オンハンド）」を使う</a:t>
            </a:r>
            <a:endParaRPr lang="en-US" sz="1500" dirty="0"/>
          </a:p>
          <a:p>
            <a:pPr indent="0" marL="0">
              <a:lnSpc>
                <a:spcPct val="125000"/>
              </a:lnSpc>
              <a:buNone/>
            </a:pPr>
            <a:endParaRPr lang="en-US" sz="15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2D343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・近い月＝予約実数／遠い月＝前年ペース</a:t>
            </a:r>
            <a:endParaRPr lang="en-US" sz="1500" dirty="0"/>
          </a:p>
          <a:p>
            <a:pPr indent="0" marL="0">
              <a:lnSpc>
                <a:spcPct val="125000"/>
              </a:lnSpc>
              <a:buNone/>
            </a:pPr>
            <a:endParaRPr lang="en-US" sz="15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2D343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→ ほぼ確定の見込みになる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640080" y="5577840"/>
            <a:ext cx="10881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4E79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※ だからこそ、白井さん／ねっぱん！の売上データを繋ぐ意味が大きい。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1133856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0707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70707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第2部 ｜ 進め方</a:t>
            </a:r>
            <a:endParaRPr lang="en-US" sz="1600" dirty="0"/>
          </a:p>
        </p:txBody>
      </p:sp>
      <p:sp>
        <p:nvSpPr>
          <p:cNvPr id="3" name="Shape 1"/>
          <p:cNvSpPr/>
          <p:nvPr/>
        </p:nvSpPr>
        <p:spPr>
          <a:xfrm>
            <a:off x="640080" y="886968"/>
            <a:ext cx="1280160" cy="0"/>
          </a:xfrm>
          <a:prstGeom prst="line">
            <a:avLst/>
          </a:prstGeom>
          <a:noFill/>
          <a:ln w="38100">
            <a:solidFill>
              <a:srgbClr val="C8A04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1051560"/>
            <a:ext cx="10972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4E79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大きく作り直さない。“今あるもの”を繋ぐところから</a:t>
            </a:r>
            <a:endParaRPr lang="en-US" sz="30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2468880"/>
          <a:ext cx="10881360" cy="914400"/>
        </p:xfrm>
        <a:graphic>
          <a:graphicData uri="http://schemas.openxmlformats.org/drawingml/2006/table">
            <a:tbl>
              <a:tblPr/>
              <a:tblGrid>
                <a:gridCol w="1645920"/>
                <a:gridCol w="6949440"/>
                <a:gridCol w="2286000"/>
              </a:tblGrid>
              <a:tr h="5486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6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やること</a:t>
                      </a:r>
                      <a:endParaRPr lang="en-US" sz="16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目安</a:t>
                      </a:r>
                      <a:endParaRPr lang="en-US" sz="16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</a:tr>
              <a:tr h="9144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1F4E79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まず</a:t>
                      </a:r>
                      <a:endParaRPr lang="en-US" sz="16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2D3436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今ある3つ（資金管理・経理・白井さん）を繋ぎ、正本を一つに</a:t>
                      </a:r>
                      <a:endParaRPr lang="en-US" sz="16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2D3436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1〜2ヶ月</a:t>
                      </a:r>
                      <a:endParaRPr lang="en-US" sz="16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9144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1F4E79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次に</a:t>
                      </a:r>
                      <a:endParaRPr lang="en-US" sz="16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2D3436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ねっぱん！の予約データ（オンハンド）を取り込む</a:t>
                      </a:r>
                      <a:endParaRPr lang="en-US" sz="16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2D3436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＋2〜3ヶ月</a:t>
                      </a:r>
                      <a:endParaRPr lang="en-US" sz="16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9144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1F4E79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その後</a:t>
                      </a:r>
                      <a:endParaRPr lang="en-US" sz="16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2D3436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実績が貯まった段階で、予測を高度化する</a:t>
                      </a:r>
                      <a:endParaRPr lang="en-US" sz="16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2D3436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半年〜</a:t>
                      </a:r>
                      <a:endParaRPr lang="en-US" sz="16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640080" y="5760720"/>
            <a:ext cx="10881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8449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まず第1段階だけで効果が出る ── 一度に大きく投資しないので低リスク。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1133856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0707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F4E7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640080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決めてほしいこと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822960" y="1463040"/>
            <a:ext cx="1828800" cy="0"/>
          </a:xfrm>
          <a:prstGeom prst="line">
            <a:avLst/>
          </a:prstGeom>
          <a:noFill/>
          <a:ln w="38100">
            <a:solidFill>
              <a:srgbClr val="C8A04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22960" y="2103120"/>
            <a:ext cx="10515600" cy="10972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C8A04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05840" y="2103120"/>
            <a:ext cx="10972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C8A04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Q1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2103120" y="2103120"/>
            <a:ext cx="90525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4E79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お金のデータの「正本を一つ」にする方針でよいか（経理・白井さん・資金管理を繋ぐ）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822960" y="3429000"/>
            <a:ext cx="10515600" cy="10972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C8A04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05840" y="3429000"/>
            <a:ext cx="10972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C8A04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Q2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2103120" y="3429000"/>
            <a:ext cx="90525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4E79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次の段階で、ねっぱん！の予約データを繋ぐ方向でよいか</a:t>
            </a:r>
            <a:endParaRPr lang="en-US" sz="1700" dirty="0"/>
          </a:p>
        </p:txBody>
      </p:sp>
      <p:sp>
        <p:nvSpPr>
          <p:cNvPr id="10" name="Shape 8"/>
          <p:cNvSpPr/>
          <p:nvPr/>
        </p:nvSpPr>
        <p:spPr>
          <a:xfrm>
            <a:off x="822960" y="4754880"/>
            <a:ext cx="10515600" cy="10972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C8A04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05840" y="4754880"/>
            <a:ext cx="10972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C8A04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Q3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2103120" y="4754880"/>
            <a:ext cx="90525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4E79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まず第1段階（今あるものを繋ぐ）から始めてよいか</a:t>
            </a:r>
            <a:endParaRPr lang="en-US" sz="1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2026-06-01T11:37:23Z</dcterms:created>
  <dcterms:modified xsi:type="dcterms:W3CDTF">2026-06-01T11:37:23Z</dcterms:modified>
</cp:coreProperties>
</file>