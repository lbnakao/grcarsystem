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社長のExcelを、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A046"/>
                </a:solidFill>
              </a:rPr>
              <a:t>アプリにしました。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4114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</a:rPr>
              <a:t>— そして、これからのお話 —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中道社長へ　／　2026年5月15日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07070"/>
                </a:solidFill>
              </a:rPr>
              <a:t>社長が、やりたかったこと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10332720" cy="2103120"/>
          </a:xfrm>
          <a:prstGeom prst="roundRect">
            <a:avLst>
              <a:gd name="adj" fmla="val 8696"/>
            </a:avLst>
          </a:prstGeom>
          <a:solidFill>
            <a:srgbClr val="FFF8E1"/>
          </a:solidFill>
          <a:ln w="25400">
            <a:solidFill>
              <a:srgbClr val="C8A0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E79"/>
                </a:solidFill>
              </a:rPr>
              <a:t>6社のお金の流れを、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E79"/>
                </a:solidFill>
              </a:rPr>
              <a:t>1つの画面で全部見たい。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50292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707070"/>
                </a:solidFill>
              </a:rPr>
              <a:t>— ただ、それがちょっとややこしいんです。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07070"/>
                </a:solidFill>
              </a:rPr>
              <a:t>2 / 9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07070"/>
                </a:solidFill>
              </a:rPr>
              <a:t>なにがややこしいか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1463040"/>
            <a:ext cx="3703320" cy="4754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25400">
            <a:solidFill>
              <a:srgbClr val="0984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37360" y="1737360"/>
            <a:ext cx="1005840" cy="1005840"/>
          </a:xfrm>
          <a:prstGeom prst="ellipse">
            <a:avLst/>
          </a:prstGeom>
          <a:solidFill>
            <a:srgbClr val="0984E3"/>
          </a:solidFill>
          <a:ln w="12700">
            <a:solidFill>
              <a:srgbClr val="0984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37360" y="173736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E79"/>
                </a:solidFill>
              </a:rPr>
              <a:t>入金日が、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4747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17055"/>
                </a:solidFill>
              </a:rPr>
              <a:t>バラバラ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3337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</a:rPr>
              <a:t>Bookingは翌月15日、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</a:rPr>
              <a:t>楽天は25日、JCBは半分翌月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</a:rPr>
              <a:t>…16通りもあります。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51960" y="1463040"/>
            <a:ext cx="3703320" cy="4754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25400">
            <a:solidFill>
              <a:srgbClr val="0984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23560" y="1737360"/>
            <a:ext cx="1005840" cy="1005840"/>
          </a:xfrm>
          <a:prstGeom prst="ellipse">
            <a:avLst/>
          </a:prstGeom>
          <a:solidFill>
            <a:srgbClr val="0984E3"/>
          </a:solidFill>
          <a:ln w="12700">
            <a:solidFill>
              <a:srgbClr val="0984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23560" y="173736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343400" y="292608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E79"/>
                </a:solidFill>
              </a:rPr>
              <a:t>カード枠を、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343400" y="34747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17055"/>
                </a:solidFill>
              </a:rPr>
              <a:t>ぐるぐる回す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434840" y="4297680"/>
            <a:ext cx="3337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</a:rPr>
              <a:t>入金が入る → カード返済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</a:rPr>
              <a:t>→ 枠が戻る → その枠で支払い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</a:rPr>
              <a:t>という独特の運用。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38160" y="1463040"/>
            <a:ext cx="3703320" cy="4754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25400">
            <a:solidFill>
              <a:srgbClr val="0984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0" y="1737360"/>
            <a:ext cx="1005840" cy="1005840"/>
          </a:xfrm>
          <a:prstGeom prst="ellipse">
            <a:avLst/>
          </a:prstGeom>
          <a:solidFill>
            <a:srgbClr val="0984E3"/>
          </a:solidFill>
          <a:ln w="12700">
            <a:solidFill>
              <a:srgbClr val="0984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09760" y="173736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3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8229600" y="292608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E79"/>
                </a:solidFill>
              </a:rPr>
              <a:t>組み合わせが、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29600" y="34747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17055"/>
                </a:solidFill>
              </a:rPr>
              <a:t>とにかく多い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321040" y="4297680"/>
            <a:ext cx="33375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</a:rPr>
              <a:t>17の施設 × 16のチャネル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</a:rPr>
              <a:t>× 月別の売上を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D3436"/>
                </a:solidFill>
              </a:rPr>
              <a:t>全部追いかける必要が。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07070"/>
                </a:solidFill>
              </a:rPr>
              <a:t>3 / 9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07070"/>
                </a:solidFill>
              </a:rPr>
              <a:t>それで、社長がつくられたのが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14400" y="1554480"/>
            <a:ext cx="10332720" cy="1828800"/>
          </a:xfrm>
          <a:prstGeom prst="roundRect">
            <a:avLst>
              <a:gd name="adj" fmla="val 10000"/>
            </a:avLst>
          </a:prstGeom>
          <a:solidFill>
            <a:srgbClr val="FFF8E1"/>
          </a:solidFill>
          <a:ln w="25400">
            <a:solidFill>
              <a:srgbClr val="C8A0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5448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4E79"/>
                </a:solidFill>
              </a:rPr>
              <a:t>20シートの、すごいExcel。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65760" y="3657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07070"/>
                </a:solidFill>
              </a:rPr>
              <a:t>ただのExcelではなくて、こんなことまでされています：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297680"/>
            <a:ext cx="37033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B8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434840"/>
            <a:ext cx="3520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79"/>
                </a:solidFill>
              </a:rPr>
              <a:t>前は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F4E79"/>
                </a:solidFill>
              </a:rPr>
              <a:t>51シート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544068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07070"/>
                </a:solidFill>
              </a:rPr>
              <a:t>今のv10は20シートに整理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1960" y="4297680"/>
            <a:ext cx="37033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B8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4434840"/>
            <a:ext cx="3520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79"/>
                </a:solidFill>
              </a:rPr>
              <a:t>売上を入れたら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F4E79"/>
                </a:solidFill>
              </a:rPr>
              <a:t>入金日が自動で出る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343400" y="544068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07070"/>
                </a:solidFill>
              </a:rPr>
              <a:t>計算式だけで自動化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4297680"/>
            <a:ext cx="37033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B8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4434840"/>
            <a:ext cx="3520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79"/>
                </a:solidFill>
              </a:rPr>
              <a:t>9000以上の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F4E79"/>
                </a:solidFill>
              </a:rPr>
              <a:t>計算式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544068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07070"/>
                </a:solidFill>
              </a:rPr>
              <a:t>中身は本当に緻密です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07070"/>
                </a:solidFill>
              </a:rPr>
              <a:t>4 / 9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07070"/>
                </a:solidFill>
              </a:rPr>
              <a:t>でも、社長ご自身が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14400" y="1463040"/>
            <a:ext cx="10332720" cy="1371600"/>
          </a:xfrm>
          <a:prstGeom prst="roundRect">
            <a:avLst>
              <a:gd name="adj" fmla="val 13333"/>
            </a:avLst>
          </a:prstGeom>
          <a:solidFill>
            <a:srgbClr val="FFF0F0"/>
          </a:solidFill>
          <a:ln w="25400">
            <a:solidFill>
              <a:srgbClr val="E170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6304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17055"/>
                </a:solidFill>
              </a:rPr>
              <a:t>「もうExcelじゃ限界」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65760" y="292608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07070"/>
                </a:solidFill>
              </a:rPr>
              <a:t>と仕様書に書かれていました。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35661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07070"/>
                </a:solidFill>
              </a:rPr>
              <a:t>たとえば — 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4114800"/>
            <a:ext cx="37033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206240"/>
            <a:ext cx="3703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👥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48640" y="5212080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436"/>
                </a:solidFill>
              </a:rPr>
              <a:t>みんなで同時に開くと、書式が壊れる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4114800"/>
            <a:ext cx="37033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4206240"/>
            <a:ext cx="3703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📷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434840" y="5212080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436"/>
                </a:solidFill>
              </a:rPr>
              <a:t>写真の請求書を、読み取る機能がない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4114800"/>
            <a:ext cx="37033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7070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4206240"/>
            <a:ext cx="3703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⚠️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8321040" y="5212080"/>
            <a:ext cx="3337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436"/>
                </a:solidFill>
              </a:rPr>
              <a:t>計算式が複雑すぎて、もう直せない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07070"/>
                </a:solidFill>
              </a:rPr>
              <a:t>5 / 9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07070"/>
                </a:solidFill>
              </a:rPr>
              <a:t>それを受けて、私が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914400" y="1554480"/>
            <a:ext cx="10332720" cy="1645920"/>
          </a:xfrm>
          <a:prstGeom prst="roundRect">
            <a:avLst>
              <a:gd name="adj" fmla="val 11111"/>
            </a:avLst>
          </a:prstGeom>
          <a:solidFill>
            <a:srgbClr val="E8F5E9"/>
          </a:solidFill>
          <a:ln w="25400">
            <a:solidFill>
              <a:srgbClr val="00B8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5544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4E79"/>
                </a:solidFill>
              </a:rPr>
              <a:t>Excelを、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894"/>
                </a:solidFill>
              </a:rPr>
              <a:t>ウェブの画面にしました。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365760" y="4023360"/>
            <a:ext cx="37033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25400">
            <a:solidFill>
              <a:srgbClr val="0984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1605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894"/>
                </a:solidFill>
              </a:rPr>
              <a:t>✓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484632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79"/>
                </a:solidFill>
              </a:rPr>
              <a:t>みんなで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53035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84E3"/>
                </a:solidFill>
              </a:rPr>
              <a:t>同時に使える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251960" y="4023360"/>
            <a:ext cx="37033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25400">
            <a:solidFill>
              <a:srgbClr val="0984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41605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894"/>
                </a:solidFill>
              </a:rPr>
              <a:t>✓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343400" y="484632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79"/>
                </a:solidFill>
              </a:rPr>
              <a:t>ブラウザで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43400" y="53035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84E3"/>
                </a:solidFill>
              </a:rPr>
              <a:t>開くだけ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138160" y="4023360"/>
            <a:ext cx="37033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25400">
            <a:solidFill>
              <a:srgbClr val="0984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41605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894"/>
                </a:solidFill>
              </a:rPr>
              <a:t>✓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79"/>
                </a:solidFill>
              </a:rPr>
              <a:t>社長の数字、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29600" y="530352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84E3"/>
                </a:solidFill>
              </a:rPr>
              <a:t>全部入ってます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07070"/>
                </a:solidFill>
              </a:rPr>
              <a:t>6 / 9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07070"/>
                </a:solidFill>
              </a:rPr>
              <a:t>ただ、ここで終わりじゃありません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65760" y="128016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07070"/>
                </a:solidFill>
              </a:rPr>
              <a:t>社長が本当に目指されているのは、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920240"/>
            <a:ext cx="10332720" cy="1828800"/>
          </a:xfrm>
          <a:prstGeom prst="roundRect">
            <a:avLst>
              <a:gd name="adj" fmla="val 10000"/>
            </a:avLst>
          </a:prstGeom>
          <a:solidFill>
            <a:srgbClr val="E6F4FF"/>
          </a:solidFill>
          <a:ln w="25400">
            <a:solidFill>
              <a:srgbClr val="0984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F4E79"/>
                </a:solidFill>
              </a:rPr>
              <a:t>「現場の人が、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984E3"/>
                </a:solidFill>
              </a:rPr>
              <a:t>何もしなくていい状態」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07070"/>
                </a:solidFill>
              </a:rPr>
              <a:t>そこに近づくために、次の3つをご提案します。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4846320"/>
            <a:ext cx="3703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984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937760"/>
            <a:ext cx="73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984E3"/>
                </a:solidFill>
              </a:rPr>
              <a:t>①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188720" y="498348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</a:rPr>
              <a:t>請求書スキャン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55321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984E3"/>
                </a:solidFill>
              </a:rPr>
              <a:t>写真を撮るだけ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51960" y="4846320"/>
            <a:ext cx="3703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0B8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43400" y="4937760"/>
            <a:ext cx="73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894"/>
                </a:solidFill>
              </a:rPr>
              <a:t>②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074920" y="498348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</a:rPr>
              <a:t>スマレジ連携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74920" y="55321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B894"/>
                </a:solidFill>
              </a:rPr>
              <a:t>勝手に売上が入る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38160" y="4846320"/>
            <a:ext cx="3703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E170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4937760"/>
            <a:ext cx="73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17055"/>
                </a:solidFill>
              </a:rPr>
              <a:t>③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8961120" y="498348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</a:rPr>
              <a:t>銀行データ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61120" y="55321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17055"/>
                </a:solidFill>
              </a:rPr>
              <a:t>会計ソフト無しでOK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07070"/>
                </a:solidFill>
              </a:rPr>
              <a:t>7 / 9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07070"/>
                </a:solidFill>
              </a:rPr>
              <a:t>3つの提案を、もう少しだけ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1280160"/>
            <a:ext cx="114300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0984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554480"/>
            <a:ext cx="1005840" cy="1005840"/>
          </a:xfrm>
          <a:prstGeom prst="ellipse">
            <a:avLst/>
          </a:prstGeom>
          <a:solidFill>
            <a:srgbClr val="0984E3"/>
          </a:solidFill>
          <a:ln w="12700">
            <a:solidFill>
              <a:srgbClr val="0984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①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73736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</a:rPr>
              <a:t>請求書スキャン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</a:rPr>
              <a:t>現場の人が写真を撮るだけで、日付・取引先・金額が自動で入る。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37360" y="2331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B894"/>
                </a:solidFill>
              </a:rPr>
              <a:t>当初は月10万円の専用ソフトを想定していましたが、AIで代わりができるので月数千円で済みます。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114300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00B89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291840"/>
            <a:ext cx="1005840" cy="1005840"/>
          </a:xfrm>
          <a:prstGeom prst="ellipse">
            <a:avLst/>
          </a:prstGeom>
          <a:solidFill>
            <a:srgbClr val="00B894"/>
          </a:solidFill>
          <a:ln w="12700">
            <a:solidFill>
              <a:srgbClr val="00B8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2918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②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737360" y="31546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</a:rPr>
              <a:t>スマレジ連携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3657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</a:rPr>
              <a:t>もう使われているので、繋ぐだけ。夜のうちに売上が勝手にアプリに入る状態にできます。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4069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B894"/>
                </a:solidFill>
              </a:rPr>
              <a:t>社長か井上さんに「連携キー」を発行いただければ、すぐ着手できます。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4754880"/>
            <a:ext cx="114300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25400">
            <a:solidFill>
              <a:srgbClr val="E170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5029200"/>
            <a:ext cx="1005840" cy="1005840"/>
          </a:xfrm>
          <a:prstGeom prst="ellipse">
            <a:avLst/>
          </a:prstGeom>
          <a:solidFill>
            <a:srgbClr val="E17055"/>
          </a:solidFill>
          <a:ln w="12700">
            <a:solidFill>
              <a:srgbClr val="E170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02920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③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737360" y="4892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</a:rPr>
              <a:t>銀行データ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737360" y="5394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436"/>
                </a:solidFill>
              </a:rPr>
              <a:t>会計ソフトを入れずに、銀行の入出金をアプリに取り込めます。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37360" y="58064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B894"/>
                </a:solidFill>
              </a:rPr>
              <a:t>最初は「銀行のサイトからファイルを落として読み込む」やり方で。慣れたら自動取得に切り替えます。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07070"/>
                </a:solidFill>
              </a:rPr>
              <a:t>8 / 9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07070"/>
                </a:solidFill>
              </a:rPr>
              <a:t>社長に、お決めいただきたいこと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1280160"/>
            <a:ext cx="11430000" cy="13716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25400">
            <a:solidFill>
              <a:srgbClr val="00B8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17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B894"/>
                </a:solidFill>
              </a:rPr>
              <a:t>Q1.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54480" y="1417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</a:rPr>
              <a:t>3つの提案のうち、どれから始めましょうか?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9202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07070"/>
                </a:solidFill>
              </a:rPr>
              <a:t>私のおすすめは ①請求書スキャン です（現場の手間が一番減るので）。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11430000" cy="1371600"/>
          </a:xfrm>
          <a:prstGeom prst="roundRect">
            <a:avLst>
              <a:gd name="adj" fmla="val 10000"/>
            </a:avLst>
          </a:prstGeom>
          <a:solidFill>
            <a:srgbClr val="E6F4FF"/>
          </a:solidFill>
          <a:ln w="25400">
            <a:solidFill>
              <a:srgbClr val="0984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9718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84E3"/>
                </a:solidFill>
              </a:rPr>
              <a:t>Q2.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54480" y="29718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</a:rPr>
              <a:t>スマレジの「連携キー」、発行をお願いできますか?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34747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07070"/>
                </a:solidFill>
              </a:rPr>
              <a:t>発行いただければ、②スマレジ連携はそのまま着手できます。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4389120"/>
            <a:ext cx="11430000" cy="1371600"/>
          </a:xfrm>
          <a:prstGeom prst="roundRect">
            <a:avLst>
              <a:gd name="adj" fmla="val 10000"/>
            </a:avLst>
          </a:prstGeom>
          <a:solidFill>
            <a:srgbClr val="FFF8E1"/>
          </a:solidFill>
          <a:ln w="25400">
            <a:solidFill>
              <a:srgbClr val="C8A0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5262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46"/>
                </a:solidFill>
              </a:rPr>
              <a:t>Q3.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54480" y="4526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</a:rPr>
              <a:t>請求書の画像をAIに渡すこと、社内的に問題ないですか?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5029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07070"/>
                </a:solidFill>
              </a:rPr>
              <a:t>① 請求書スキャン を進める場合、ここの確認が必要になります。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" y="603504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07070"/>
                </a:solidFill>
              </a:rPr>
              <a:t>— この3つをお決めいただければ、すぐ次に進めます。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07070"/>
                </a:solidFill>
              </a:rPr>
              <a:t>9 / 9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2026-05-15T02:45:08Z</dcterms:created>
  <dcterms:modified xsi:type="dcterms:W3CDTF">2026-05-15T02:45:08Z</dcterms:modified>
</cp:coreProperties>
</file>